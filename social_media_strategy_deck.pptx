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Engagement Rate (%)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2E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Entertainment</c:v>
                  </c:pt>
                  <c:pt idx="1">
                    <c:v>Gaming</c:v>
                  </c:pt>
                  <c:pt idx="2">
                    <c:v>Food</c:v>
                  </c:pt>
                  <c:pt idx="3">
                    <c:v>Fashion</c:v>
                  </c:pt>
                  <c:pt idx="4">
                    <c:v>Fitness</c:v>
                  </c:pt>
                  <c:pt idx="5">
                    <c:v>Sports</c:v>
                  </c:pt>
                  <c:pt idx="6">
                    <c:v>Travel</c:v>
                  </c:pt>
                  <c:pt idx="7">
                    <c:v>Lifestyle</c:v>
                  </c:pt>
                  <c:pt idx="8">
                    <c:v>Health</c:v>
                  </c:pt>
                  <c:pt idx="9">
                    <c:v>Technology</c:v>
                  </c:pt>
                  <c:pt idx="10">
                    <c:v>Education</c:v>
                  </c:pt>
                  <c:pt idx="11">
                    <c:v>Business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6.84</c:v>
                </c:pt>
                <c:pt idx="1">
                  <c:v>6.29</c:v>
                </c:pt>
                <c:pt idx="2">
                  <c:v>5.76</c:v>
                </c:pt>
                <c:pt idx="3">
                  <c:v>5.34</c:v>
                </c:pt>
                <c:pt idx="4">
                  <c:v>5.17</c:v>
                </c:pt>
                <c:pt idx="5">
                  <c:v>5.05</c:v>
                </c:pt>
                <c:pt idx="6">
                  <c:v>4.67</c:v>
                </c:pt>
                <c:pt idx="7">
                  <c:v>4.54</c:v>
                </c:pt>
                <c:pt idx="8">
                  <c:v>4.39</c:v>
                </c:pt>
                <c:pt idx="9">
                  <c:v>4.19</c:v>
                </c:pt>
                <c:pt idx="10">
                  <c:v>3.74</c:v>
                </c:pt>
                <c:pt idx="11">
                  <c:v>3.21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2E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3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E36"/>
                </a:solidFill>
                <a:latin typeface="Arial"/>
              </a:rPr>
              <a:t>Top 5 Hours by Engagement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Engagement Rate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E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12 PM</c:v>
                  </c:pt>
                  <c:pt idx="1">
                    <c:v>6 PM</c:v>
                  </c:pt>
                  <c:pt idx="2">
                    <c:v>7 PM</c:v>
                  </c:pt>
                  <c:pt idx="3">
                    <c:v>8 PM</c:v>
                  </c:pt>
                  <c:pt idx="4">
                    <c:v>9 PM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6.41</c:v>
                </c:pt>
                <c:pt idx="1">
                  <c:v>7.47</c:v>
                </c:pt>
                <c:pt idx="2">
                  <c:v>7.42</c:v>
                </c:pt>
                <c:pt idx="3">
                  <c:v>7.52</c:v>
                </c:pt>
                <c:pt idx="4">
                  <c:v>7.58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E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36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E36"/>
                </a:solidFill>
                <a:latin typeface="Arial"/>
              </a:rPr>
              <a:t>Engagement Rate by Day of Week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Engagement Rate (%)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E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Sat</c:v>
                  </c:pt>
                  <c:pt idx="1">
                    <c:v>Fri</c:v>
                  </c:pt>
                  <c:pt idx="2">
                    <c:v>Thu</c:v>
                  </c:pt>
                  <c:pt idx="3">
                    <c:v>Sun</c:v>
                  </c:pt>
                  <c:pt idx="4">
                    <c:v>Wed</c:v>
                  </c:pt>
                  <c:pt idx="5">
                    <c:v>Tue</c:v>
                  </c:pt>
                  <c:pt idx="6">
                    <c:v>Mon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5.75</c:v>
                </c:pt>
                <c:pt idx="1">
                  <c:v>5.42</c:v>
                </c:pt>
                <c:pt idx="2">
                  <c:v>4.99</c:v>
                </c:pt>
                <c:pt idx="3">
                  <c:v>4.97</c:v>
                </c:pt>
                <c:pt idx="4">
                  <c:v>4.9</c:v>
                </c:pt>
                <c:pt idx="5">
                  <c:v>4.29</c:v>
                </c:pt>
                <c:pt idx="6">
                  <c:v>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E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Engagement Rate (%)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E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TikTok</c:v>
                  </c:pt>
                  <c:pt idx="1">
                    <c:v>Instagram</c:v>
                  </c:pt>
                  <c:pt idx="2">
                    <c:v>YouTube</c:v>
                  </c:pt>
                  <c:pt idx="3">
                    <c:v>Twitter</c:v>
                  </c:pt>
                  <c:pt idx="4">
                    <c:v>Facebook</c:v>
                  </c:pt>
                  <c:pt idx="5">
                    <c:v>LinkedIn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7.26</c:v>
                </c:pt>
                <c:pt idx="1">
                  <c:v>6.09</c:v>
                </c:pt>
                <c:pt idx="2">
                  <c:v>5.19</c:v>
                </c:pt>
                <c:pt idx="3">
                  <c:v>4.16</c:v>
                </c:pt>
                <c:pt idx="4">
                  <c:v>3.61</c:v>
                </c:pt>
                <c:pt idx="5">
                  <c:v>3.02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E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F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Content &amp; Timing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Engagement?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of 5,000 social media posts to guide posting strategy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 Project  |  Rupak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content type and posting time drive the highest engagement rate, and how should we adjust posting strategy accordingly?”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F7FAFA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posts across 6 platforms (Instagram, TikTok, YouTube, Twitter, Facebook, LinkedIn), 2024–2025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83464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F7FAFA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3108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40690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for aggregation &amp; grouping; Excel/Sheets for pivot tables and charting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83464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F7FAFA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3108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Analyzed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40690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Platform, Hour of Day, Day of Week, Sentiment vs. Engagement Rate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Strategy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1: Content Category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and Gaming content nearly double the engagement rate of Business content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840480" cy="4663440"/>
          </a:xfrm>
          <a:prstGeom prst="roundRect">
            <a:avLst>
              <a:gd name="adj" fmla="val 1905"/>
            </a:avLst>
          </a:prstGeom>
          <a:solidFill>
            <a:srgbClr val="021E2B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7373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6.84%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046720" y="2514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Entertainment’s avg. engagement rate — the highest of any category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0" y="34290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3.21%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046720" y="40690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content’s rate — the lowest, less than half of Entertainment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lead content strategy with Entertainment, Gaming, and Food; reserve Business-tone posts for owned channels like LinkedIn.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Strategy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2: Timing Drives Engagement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published in the evening (6–9 PM) and on weekends consistently outperform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6304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AF7F5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schedule high-priority posts for 6–9 PM on Friday or Saturday — this window combines the strongest hourly and daily effects observed in the data.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Strategy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3: Platform Performance Varies Widely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delivers 2.4x the engagement rate of LinkedIn, despite similar average follower counts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63040"/>
            <a:ext cx="3840480" cy="4663440"/>
          </a:xfrm>
          <a:prstGeom prst="roundRect">
            <a:avLst>
              <a:gd name="adj" fmla="val 1905"/>
            </a:avLst>
          </a:prstGeom>
          <a:solidFill>
            <a:srgbClr val="021E2B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Format Effects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0" y="2240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0" y="2651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4.63%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0" y="3063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3.87%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4672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 engagement rate across all 5,000 posts: 4.91%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46720" y="45720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prioritize TikTok and Instagram for reach campaigns; use positive-sentiment, media-rich posts to lift baseline engagement on any platform.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Strategy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3258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content mix toward Entertainment, Gaming, and Food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categories average 5.8–6.8% engagement vs. 3.2–3.7% for Business/Education — nearly double the return per post.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7432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flagship posts for 6–9 PM, Friday–Saturday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31546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window combines the top-performing hours (7.4–7.6%) with the top-performing days (5.4–5.8%).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41605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platform investment toward TikTok and Instagram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5720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(7.26%) and Instagram (6.09%) outperform LinkedIn (3.02%) by more than 2x at similar follower scale.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Strategy  |  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Strategy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5,000-post dataset; verified no missing values or duplicate IDs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engagement rate by Category, Platform, Hour, Day, and Sentiment using SQL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Cross-tabulated Category × Hour to confirm the timing effect held within top categories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pivot tables and charts in Excel to visualize each relationship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1792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0" y="178308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reflects a fixed time window (2024–2025); seasonal effects aren’t isolated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is a single metric — doesn’t capture downstream conversions or sentiment of comments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correlational; causal claims would need controlled A/B posting tests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Category × Hour combinations have small sample sizes (n&lt;15) and should be validated further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7FAFA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run a 2-week A/B test posting Entertainment/Gaming content at 7 PM on Fridays vs. current schedule, and measure the lift directly.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Engagement Strategy  | 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Engagement Strategy</dc:title>
  <dc:subject>PptxGenJS Presentation</dc:subject>
  <dc:creator>Rupak</dc:creator>
  <cp:lastModifiedBy>Rupak</cp:lastModifiedBy>
  <cp:revision>1</cp:revision>
  <dcterms:created xsi:type="dcterms:W3CDTF">2026-06-20T06:31:24Z</dcterms:created>
  <dcterms:modified xsi:type="dcterms:W3CDTF">2026-06-20T06:31:24Z</dcterms:modified>
</cp:coreProperties>
</file>